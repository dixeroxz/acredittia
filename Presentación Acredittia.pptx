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Inter Light"/>
      <p:regular r:id="rId13"/>
      <p:bold r:id="rId14"/>
      <p:italic r:id="rId15"/>
      <p:boldItalic r:id="rId16"/>
    </p:embeddedFon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Outfit"/>
      <p:regular r:id="rId25"/>
      <p:bold r:id="rId26"/>
    </p:embeddedFont>
    <p:embeddedFont>
      <p:font typeface="Inter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utfit-bold.fntdata"/><Relationship Id="rId25" Type="http://schemas.openxmlformats.org/officeDocument/2006/relationships/font" Target="fonts/Outfit-regular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Light-regular.fntdata"/><Relationship Id="rId12" Type="http://schemas.openxmlformats.org/officeDocument/2006/relationships/slide" Target="slides/slide7.xml"/><Relationship Id="rId15" Type="http://schemas.openxmlformats.org/officeDocument/2006/relationships/font" Target="fonts/InterLight-italic.fntdata"/><Relationship Id="rId14" Type="http://schemas.openxmlformats.org/officeDocument/2006/relationships/font" Target="fonts/InterLight-bold.fntdata"/><Relationship Id="rId17" Type="http://schemas.openxmlformats.org/officeDocument/2006/relationships/font" Target="fonts/InterSemiBold-regular.fntdata"/><Relationship Id="rId16" Type="http://schemas.openxmlformats.org/officeDocument/2006/relationships/font" Target="fonts/InterLight-boldItalic.fntdata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1754534"/>
            <a:ext cx="900112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ACREDITTIA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097559"/>
            <a:ext cx="85725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Plataforma SaaS con Inteligencia Artificial para la Gestión de Acreditaciones Mineras.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331940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Integrantes:</a:t>
            </a:r>
            <a:r>
              <a:rPr b="0" i="0" lang="en-US" sz="16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Emmanuel Molina y Diego Olvea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Carrera:</a:t>
            </a:r>
            <a:r>
              <a:rPr b="0" i="0" lang="en-US" sz="16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Ingeniería Informática - Sede Alameda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63204"/>
            <a:ext cx="3486150" cy="38460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063204"/>
            <a:ext cx="3486150" cy="38460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063204"/>
            <a:ext cx="3486150" cy="384601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76300" y="3253829"/>
            <a:ext cx="304038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Caos Documental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76300" y="3730079"/>
            <a:ext cx="289560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Las empresas contratistas de minería y energía manejan cientos de documentos dispersos en múltiples plataformas desintegradas (ej. SIGA, Workmate).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48200" y="3253829"/>
            <a:ext cx="304038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Validación Lenta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48200" y="3730079"/>
            <a:ext cx="28956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Revisar fechas, firmas y RUTs manualmente en cada contrato genera retrasos operativos severos, impidiendo la entrada oportuna a las faenas.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20100" y="3253829"/>
            <a:ext cx="304038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Riesgo Normativo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20100" y="3730079"/>
            <a:ext cx="28956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 solo documento vencido que pase desapercibido implica millonarias multas, riesgos críticos de seguridad e incumplimiento normativo legal.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501354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50135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5013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¿Qué problema resolvemos?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12954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81025" y="581025"/>
            <a:ext cx="549068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Acredittia (PMV)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9525"/>
            <a:ext cx="58007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81025" y="2085975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Centralizamos y automatizamos el acceso.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66750" y="27241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71525" y="272415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Plataforma Centralizada: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Único ecosistema SaaS para gestionar contratos, personal y equipos.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66750" y="35242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71525" y="3524250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Validación con IA: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OCR y LLM leen PDFs para aprobar o rechazar documentos al instante según firmas y RUTs.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66750" y="46291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71525" y="462915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Gestión Proactiva: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Dashboard en tiempo real y alertas de vencimiento automáticas.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/>
          <p:nvPr/>
        </p:nvSpPr>
        <p:spPr>
          <a:xfrm>
            <a:off x="857250" y="1075729"/>
            <a:ext cx="10477500" cy="811410"/>
          </a:xfrm>
          <a:prstGeom prst="roundRect">
            <a:avLst>
              <a:gd fmla="val 1408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619250" y="1313854"/>
            <a:ext cx="9477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 (Interfaz):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React y Next.js para una experiencia de usuario fluida, reactiva y moderna.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857250" y="1075729"/>
            <a:ext cx="38100" cy="81141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857250" y="2172890"/>
            <a:ext cx="10477500" cy="811410"/>
          </a:xfrm>
          <a:prstGeom prst="roundRect">
            <a:avLst>
              <a:gd fmla="val 1408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619250" y="2411015"/>
            <a:ext cx="9477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 (Motor y API):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Python utilizando el framework FastAPI para lograr alto rendimiento.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857250" y="2172890"/>
            <a:ext cx="38100" cy="81141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857250" y="3270051"/>
            <a:ext cx="10477500" cy="811410"/>
          </a:xfrm>
          <a:prstGeom prst="roundRect">
            <a:avLst>
              <a:gd fmla="val 1408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619250" y="3508176"/>
            <a:ext cx="9477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 de Datos: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PostgreSQL 16 garantizando un modelo relacional robusto y multi-empresa.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857250" y="3270051"/>
            <a:ext cx="38100" cy="81141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857250" y="4367212"/>
            <a:ext cx="10477500" cy="1146571"/>
          </a:xfrm>
          <a:prstGeom prst="roundRect">
            <a:avLst>
              <a:gd fmla="val 996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619250" y="4605337"/>
            <a:ext cx="9477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Nube y Tareas (Asincronía):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Azure Blob Storage, Redis y Celery para que la IA procese los PDFs en segundo plano sin congelar el sistema.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857250" y="4367212"/>
            <a:ext cx="38100" cy="1146571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857250" y="5799534"/>
            <a:ext cx="10477500" cy="811410"/>
          </a:xfrm>
          <a:prstGeom prst="roundRect">
            <a:avLst>
              <a:gd fmla="val 1408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1619250" y="6037659"/>
            <a:ext cx="9477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de Software: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GitHub Actions (CI/CD) y Pytest para automatizar despliegues y pruebas.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857250" y="5799534"/>
            <a:ext cx="38100" cy="81141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1304329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3475" y="2401490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" y="3498651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3475" y="4595812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3475" y="6028134"/>
            <a:ext cx="2667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81025" y="-3869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¿Qué tecnologías vamos a utilizar?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81025" y="675679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6516"/>
            <a:ext cx="3486150" cy="4179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896516"/>
            <a:ext cx="3486150" cy="4179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896516"/>
            <a:ext cx="3486150" cy="417939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876300" y="3087141"/>
            <a:ext cx="304038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Arquitecturas Complejas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76300" y="3896766"/>
            <a:ext cx="289560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Vamos más allá de un sistema básico al integrar servicios en la nube (Azure), motores de inteligencia artificial y procesamiento asíncrono con Celery.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648200" y="3087141"/>
            <a:ext cx="304038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Ciberseguridad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648200" y="3563391"/>
            <a:ext cx="289560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Implementamos estándares de seguridad reales de la industria utilizando encriptación JWE y tokens JWT para proteger datos altamente sensibles de las empresas.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420100" y="3087141"/>
            <a:ext cx="304038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Desarrollo Full-Stack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420100" y="3563391"/>
            <a:ext cx="28956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Aplicamos metodologías ágiles para construir, desde cero, una solución escalable; abarcando la base de datos relacional hasta la interfaz final del cliente.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334666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33466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334666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Perfil de Egreso: Ingeniería Informática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581025" y="12954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9465" y="1843087"/>
            <a:ext cx="4221509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04850" y="233484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19150" y="2336750"/>
            <a:ext cx="609406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Transformación Digital:</a:t>
            </a:r>
            <a:r>
              <a:rPr b="0" i="0" lang="en-US" sz="15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Convertimos un proceso históricamente manual y caótico en una operación ágil, centralizada y sin fricciones.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04850" y="348528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19150" y="3487191"/>
            <a:ext cx="609406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Innovación con IA:</a:t>
            </a:r>
            <a:r>
              <a:rPr b="0" i="0" lang="en-US" sz="15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Resolvemos un dolor real y costoso de la industria minera utilizando automatización inteligente para reducir tiempos y riesgos.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04850" y="4635728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19150" y="4637633"/>
            <a:ext cx="609406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Consolidación Profesional:</a:t>
            </a:r>
            <a:r>
              <a:rPr b="0" i="0" lang="en-US" sz="15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Este proyecto demuestra nuestras capacidades técnicas para diseñar, asegurar y desplegar soluciones de software empresariales modernas.</a:t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8990" y="1852612"/>
            <a:ext cx="4202459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Conclusión e Impacto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81025" y="12954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355657" y="2442269"/>
            <a:ext cx="548068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¿Preguntas?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3486150" y="3785294"/>
            <a:ext cx="5219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Gracias por su atención.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